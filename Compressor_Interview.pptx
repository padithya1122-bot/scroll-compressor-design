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77"/>
  </p:notesMasterIdLst>
  <p:sldIdLst>
    <p:sldId id="256" r:id="rId4"/>
    <p:sldId id="257" r:id="rId5"/>
    <p:sldId id="258" r:id="rId6"/>
    <p:sldId id="262" r:id="rId10"/>
    <p:sldId id="269" r:id="rId17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</p:sldIdLst>
  <p:sldSz cx="12192000" cy="6858000"/>
  <p:notesSz cx="6858000" cy="9144000"/>
  <p:embeddedFontLst>
    <p:embeddedFont>
      <p:font typeface="Play" panose="020B0604020202020204" charset="0"/>
      <p:regular r:id="rId78"/>
      <p:bold r:id="rId7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3" roundtripDataSignature="AMtx7mghV9z4uPShbpi06+9maoGLq4HH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DA13AC-27E7-4BE2-8975-78536B9103FA}">
  <a:tblStyle styleId="{AADA13AC-27E7-4BE2-8975-78536B9103FA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2D33AF3-EC85-4A62-A090-6BFC911CA1C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364F1F-BC72-4689-A03F-4EBC344C090F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presProps" Target="presProps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9" Type="http://schemas.openxmlformats.org/officeDocument/2006/relationships/font" Target="fonts/font2.fntdata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notesMaster" Target="notesMasters/notesMaster1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7" Type="http://schemas.openxmlformats.org/officeDocument/2006/relationships/slide" Target="slides/slide14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83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8" Type="http://schemas.openxmlformats.org/officeDocument/2006/relationships/font" Target="fonts/font1.fntdata"/><Relationship Id="rId86" Type="http://schemas.openxmlformats.org/officeDocument/2006/relationships/theme" Target="theme/theme1.xml"/><Relationship Id="rId4" Type="http://schemas.openxmlformats.org/officeDocument/2006/relationships/slide" Target="slides/slide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66" Type="http://schemas.openxmlformats.org/officeDocument/2006/relationships/slide" Target="slides/slide63.xml"/><Relationship Id="rId8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f0aea18a2_4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6f0aea18a2_4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36f0aea18a2_4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f0aea18a2_7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6f0aea18a2_7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36f0aea18a2_7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7bf58568a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7bf58568ab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g37bf58568ab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b31036aac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b31036aac6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g3b31036aac6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b344d22c1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b344d22c14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g3b344d22c14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b31036aac6_7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b31036aac6_7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g3b31036aac6_7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b31036aac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b31036aac6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g3b31036aac6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b31036aac6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3b31036aac6_3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g3b31036aac6_3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b31036aac6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b31036aac6_0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g3b31036aac6_0_1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b31036aac6_3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b31036aac6_3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g3b31036aac6_3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b31036aac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b31036aac6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g3b31036aac6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b344d22c1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3b344d22c14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g3b344d22c14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b31036aac6_7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b31036aac6_7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g3b31036aac6_7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b31036aac6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b31036aac6_0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g3b31036aac6_0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b31036aac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b31036aac6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g3b31036aac6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b344d22c1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b344d22c14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g3b344d22c14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b31036aac6_7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b31036aac6_7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g3b31036aac6_7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58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b31036aac6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b31036aac6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g3b31036aac6_0_1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b31036aac6_3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b31036aac6_3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g3b31036aac6_3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b31036aac6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b31036aac6_3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g3b31036aac6_3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b31036aac6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b31036aac6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g3b31036aac6_0_1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62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b344d22c1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b344d22c14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g3b344d22c14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63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b31036aac6_7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b31036aac6_7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g3b31036aac6_7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64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b31036aac6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b31036aac6_0_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g3b31036aac6_0_1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65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b344d22c1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b344d22c14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g3b344d22c14_0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66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b344d22c1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b344d22c14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g3b344d22c14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67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b31036aac6_7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3b31036aac6_7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g3b31036aac6_7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68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b31036aac6_7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3b31036aac6_7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g3b31036aac6_7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f107b6336_4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6f107b6336_4_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g36f107b6336_4_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36f107b6336_4_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6f107b6336_4_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f107b6336_4_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36f107b6336_4_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9" name="Google Shape;99;g36f107b6336_4_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6f107b6336_4_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6f107b6336_4_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f107b6336_4_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6f107b6336_4_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g36f107b6336_4_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36f107b6336_4_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6f107b6336_4_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f107b6336_4_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6f107b6336_4_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g36f107b6336_4_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g36f107b6336_4_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36f107b6336_4_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6f107b6336_4_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f107b6336_4_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6f107b6336_4_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g36f107b6336_4_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36f107b6336_4_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g36f107b6336_4_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g36f107b6336_4_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36f107b6336_4_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6f107b6336_4_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f107b6336_4_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6f107b6336_4_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6f107b6336_4_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36f107b6336_4_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f107b6336_4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36f107b6336_4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6f107b6336_4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f107b6336_4_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6f107b6336_4_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g36f107b6336_4_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g36f107b6336_4_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6f107b6336_4_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6f107b6336_4_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107b6336_4_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6f107b6336_4_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g36f107b6336_4_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g36f107b6336_4_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6f107b6336_4_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g36f107b6336_4_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f107b6336_4_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36f107b6336_4_6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g36f107b6336_4_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36f107b6336_4_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g36f107b6336_4_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f107b6336_4_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g36f107b6336_4_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g36f107b6336_4_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g36f107b6336_4_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g36f107b6336_4_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de9a40c90_2_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g36de9a40c90_2_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8" name="Google Shape;168;g36de9a40c90_2_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g36de9a40c90_2_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g36de9a40c90_2_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de9a40c90_2_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g36de9a40c90_2_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g36de9a40c90_2_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g36de9a40c90_2_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g36de9a40c90_2_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de9a40c90_2_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g36de9a40c90_2_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g36de9a40c90_2_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g36de9a40c90_2_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g36de9a40c90_2_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de9a40c90_2_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g36de9a40c90_2_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g36de9a40c90_2_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g36de9a40c90_2_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g36de9a40c90_2_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g36de9a40c90_2_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de9a40c90_2_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g36de9a40c90_2_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g36de9a40c90_2_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g36de9a40c90_2_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5" name="Google Shape;195;g36de9a40c90_2_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g36de9a40c90_2_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g36de9a40c90_2_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g36de9a40c90_2_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de9a40c90_2_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g36de9a40c90_2_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g36de9a40c90_2_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g36de9a40c90_2_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de9a40c90_2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g36de9a40c90_2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g36de9a40c90_2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de9a40c90_2_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g36de9a40c90_2_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11" name="Google Shape;211;g36de9a40c90_2_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2" name="Google Shape;212;g36de9a40c90_2_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g36de9a40c90_2_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g36de9a40c90_2_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de9a40c90_2_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g36de9a40c90_2_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g36de9a40c90_2_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9" name="Google Shape;219;g36de9a40c90_2_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g36de9a40c90_2_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g36de9a40c90_2_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de9a40c90_2_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g36de9a40c90_2_6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g36de9a40c90_2_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g36de9a40c90_2_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g36de9a40c90_2_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de9a40c90_2_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g36de9a40c90_2_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g36de9a40c90_2_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g36de9a40c90_2_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g36de9a40c90_2_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f107b6336_4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g36f107b6336_4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g36f107b6336_4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g36f107b6336_4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g36f107b6336_4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de9a40c90_2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1" name="Google Shape;161;g36de9a40c90_2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2" name="Google Shape;162;g36de9a40c90_2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3" name="Google Shape;163;g36de9a40c90_2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4" name="Google Shape;164;g36de9a40c90_2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2yuVAuJfpPxU4BmmngBfwF2ktkRDIuM4/view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9.jp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-Aj6N9rluug8GxSKkP2kFHt3kya53Run/view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0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burv3KH36V06BDF0MACFrO94CbobBM6_/view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1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sCiGofRqbfu4urAEN7C6Wd5DP_zsQavW/view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D6rMrr3g_tWJdb8GV97fM3P4TQc7F7U_/view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8.jp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YizJ0uLeIPDrdmxFND3eNdWx0IBrXeMG/view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2UxF451Q6EObYUhtRaE8OCbbjRj1grPU/view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5.jp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mfaYk24flH17PhK9ZSNdlgXNm_gXb_lL/view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yvMiZh93qpEACBsLHK_yHrfjGazA4CYU/view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"/>
          <p:cNvSpPr txBox="1">
            <a:spLocks noGrp="1"/>
          </p:cNvSpPr>
          <p:nvPr>
            <p:ph type="title"/>
          </p:nvPr>
        </p:nvSpPr>
        <p:spPr>
          <a:xfrm>
            <a:off x="838200" y="387522"/>
            <a:ext cx="105156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compressors</a:t>
            </a:r>
            <a:endParaRPr/>
          </a:p>
        </p:txBody>
      </p:sp>
      <p:sp>
        <p:nvSpPr>
          <p:cNvPr id="239" name="Google Shape;239;p7"/>
          <p:cNvSpPr txBox="1">
            <a:spLocks noGrp="1"/>
          </p:cNvSpPr>
          <p:nvPr>
            <p:ph type="body" idx="1"/>
          </p:nvPr>
        </p:nvSpPr>
        <p:spPr>
          <a:xfrm>
            <a:off x="169975" y="1083175"/>
            <a:ext cx="12378000" cy="57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                                                                                                                                                                                                   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                                                                                                                                                                             </a:t>
            </a:r>
            <a:endParaRPr sz="2400"/>
          </a:p>
          <a:p>
            <a:pPr marL="0" lvl="0" indent="0" algn="just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970584" y="1149105"/>
            <a:ext cx="2250900" cy="7323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Compressor types</a:t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1651488" y="2233245"/>
            <a:ext cx="1934400" cy="6771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displacement</a:t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8645035" y="2233245"/>
            <a:ext cx="2145300" cy="6771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169984" y="3457571"/>
            <a:ext cx="1995900" cy="553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rotary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3698004" y="3457571"/>
            <a:ext cx="1995900" cy="553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reciprocating</a:t>
            </a:r>
            <a:endParaRPr/>
          </a:p>
        </p:txBody>
      </p:sp>
      <p:cxnSp>
        <p:nvCxnSpPr>
          <p:cNvPr id="245" name="Google Shape;245;p7"/>
          <p:cNvCxnSpPr/>
          <p:nvPr/>
        </p:nvCxnSpPr>
        <p:spPr>
          <a:xfrm>
            <a:off x="6116514" y="1881554"/>
            <a:ext cx="0" cy="690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6" name="Google Shape;246;p7"/>
          <p:cNvSpPr/>
          <p:nvPr/>
        </p:nvSpPr>
        <p:spPr>
          <a:xfrm>
            <a:off x="7066088" y="3429000"/>
            <a:ext cx="1828800" cy="5826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centrifugal</a:t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10106758" y="3443285"/>
            <a:ext cx="1915200" cy="5826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axial</a:t>
            </a:r>
            <a:endParaRPr/>
          </a:p>
        </p:txBody>
      </p:sp>
      <p:cxnSp>
        <p:nvCxnSpPr>
          <p:cNvPr id="248" name="Google Shape;248;p7"/>
          <p:cNvCxnSpPr>
            <a:stCxn id="242" idx="2"/>
            <a:endCxn id="247" idx="0"/>
          </p:cNvCxnSpPr>
          <p:nvPr/>
        </p:nvCxnSpPr>
        <p:spPr>
          <a:xfrm rot="-5400000" flipH="1">
            <a:off x="10124635" y="2503395"/>
            <a:ext cx="532800" cy="1346700"/>
          </a:xfrm>
          <a:prstGeom prst="bentConnector3">
            <a:avLst>
              <a:gd name="adj1" fmla="val 49994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9" name="Google Shape;249;p7"/>
          <p:cNvCxnSpPr>
            <a:stCxn id="242" idx="2"/>
            <a:endCxn id="246" idx="0"/>
          </p:cNvCxnSpPr>
          <p:nvPr/>
        </p:nvCxnSpPr>
        <p:spPr>
          <a:xfrm rot="5400000">
            <a:off x="8589685" y="2301045"/>
            <a:ext cx="518700" cy="1737300"/>
          </a:xfrm>
          <a:prstGeom prst="bentConnector3">
            <a:avLst>
              <a:gd name="adj1" fmla="val 50005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0" name="Google Shape;250;p7"/>
          <p:cNvSpPr/>
          <p:nvPr/>
        </p:nvSpPr>
        <p:spPr>
          <a:xfrm>
            <a:off x="253511" y="4768603"/>
            <a:ext cx="914400" cy="5538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scroll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2391507" y="4768602"/>
            <a:ext cx="914400" cy="5538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vane</a:t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1330569" y="5604670"/>
            <a:ext cx="914400" cy="483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screw</a:t>
            </a:r>
            <a:endParaRPr/>
          </a:p>
        </p:txBody>
      </p:sp>
      <p:cxnSp>
        <p:nvCxnSpPr>
          <p:cNvPr id="253" name="Google Shape;253;p7"/>
          <p:cNvCxnSpPr>
            <a:endCxn id="241" idx="3"/>
          </p:cNvCxnSpPr>
          <p:nvPr/>
        </p:nvCxnSpPr>
        <p:spPr>
          <a:xfrm flipH="1">
            <a:off x="3585888" y="2571195"/>
            <a:ext cx="2530800" cy="600"/>
          </a:xfrm>
          <a:prstGeom prst="bentConnector3">
            <a:avLst>
              <a:gd name="adj1" fmla="val 50002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4" name="Google Shape;254;p7"/>
          <p:cNvCxnSpPr>
            <a:endCxn id="242" idx="1"/>
          </p:cNvCxnSpPr>
          <p:nvPr/>
        </p:nvCxnSpPr>
        <p:spPr>
          <a:xfrm>
            <a:off x="6116635" y="2571795"/>
            <a:ext cx="2528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5" name="Google Shape;255;p7"/>
          <p:cNvCxnSpPr>
            <a:stCxn id="241" idx="2"/>
            <a:endCxn id="243" idx="0"/>
          </p:cNvCxnSpPr>
          <p:nvPr/>
        </p:nvCxnSpPr>
        <p:spPr>
          <a:xfrm rot="5400000">
            <a:off x="1619688" y="2458545"/>
            <a:ext cx="547200" cy="1450800"/>
          </a:xfrm>
          <a:prstGeom prst="bentConnector3">
            <a:avLst>
              <a:gd name="adj1" fmla="val 50011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6" name="Google Shape;256;p7"/>
          <p:cNvCxnSpPr>
            <a:stCxn id="241" idx="2"/>
            <a:endCxn id="244" idx="0"/>
          </p:cNvCxnSpPr>
          <p:nvPr/>
        </p:nvCxnSpPr>
        <p:spPr>
          <a:xfrm rot="-5400000" flipH="1">
            <a:off x="3383688" y="2145345"/>
            <a:ext cx="547200" cy="2077200"/>
          </a:xfrm>
          <a:prstGeom prst="bentConnector3">
            <a:avLst>
              <a:gd name="adj1" fmla="val 50011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7" name="Google Shape;257;p7"/>
          <p:cNvCxnSpPr>
            <a:stCxn id="243" idx="4"/>
            <a:endCxn id="250" idx="0"/>
          </p:cNvCxnSpPr>
          <p:nvPr/>
        </p:nvCxnSpPr>
        <p:spPr>
          <a:xfrm rot="5400000">
            <a:off x="560734" y="4161371"/>
            <a:ext cx="757200" cy="457200"/>
          </a:xfrm>
          <a:prstGeom prst="bentConnector3">
            <a:avLst>
              <a:gd name="adj1" fmla="val 49994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8" name="Google Shape;258;p7"/>
          <p:cNvCxnSpPr>
            <a:stCxn id="243" idx="4"/>
            <a:endCxn id="251" idx="0"/>
          </p:cNvCxnSpPr>
          <p:nvPr/>
        </p:nvCxnSpPr>
        <p:spPr>
          <a:xfrm rot="-5400000" flipH="1">
            <a:off x="1629784" y="3549521"/>
            <a:ext cx="757200" cy="1680900"/>
          </a:xfrm>
          <a:prstGeom prst="bentConnector3">
            <a:avLst>
              <a:gd name="adj1" fmla="val 49994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9" name="Google Shape;259;p7"/>
          <p:cNvCxnSpPr>
            <a:endCxn id="252" idx="0"/>
          </p:cNvCxnSpPr>
          <p:nvPr/>
        </p:nvCxnSpPr>
        <p:spPr>
          <a:xfrm>
            <a:off x="1787769" y="4389970"/>
            <a:ext cx="0" cy="1214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0" name="Google Shape;260;p7"/>
          <p:cNvSpPr/>
          <p:nvPr/>
        </p:nvSpPr>
        <p:spPr>
          <a:xfrm>
            <a:off x="4062048" y="4768602"/>
            <a:ext cx="1267800" cy="549900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diaphragm</a:t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6623914" y="4768601"/>
            <a:ext cx="1267800" cy="549900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Double acting</a:t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5282087" y="5607749"/>
            <a:ext cx="1607700" cy="483000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Single acting</a:t>
            </a:r>
            <a:endParaRPr/>
          </a:p>
        </p:txBody>
      </p:sp>
      <p:cxnSp>
        <p:nvCxnSpPr>
          <p:cNvPr id="263" name="Google Shape;263;p7"/>
          <p:cNvCxnSpPr>
            <a:stCxn id="244" idx="4"/>
            <a:endCxn id="260" idx="0"/>
          </p:cNvCxnSpPr>
          <p:nvPr/>
        </p:nvCxnSpPr>
        <p:spPr>
          <a:xfrm>
            <a:off x="4695954" y="4011371"/>
            <a:ext cx="0" cy="7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4" name="Google Shape;264;p7"/>
          <p:cNvCxnSpPr>
            <a:stCxn id="244" idx="4"/>
            <a:endCxn id="261" idx="0"/>
          </p:cNvCxnSpPr>
          <p:nvPr/>
        </p:nvCxnSpPr>
        <p:spPr>
          <a:xfrm rot="-5400000" flipH="1">
            <a:off x="5598354" y="3108971"/>
            <a:ext cx="757200" cy="2562000"/>
          </a:xfrm>
          <a:prstGeom prst="bentConnector3">
            <a:avLst>
              <a:gd name="adj1" fmla="val 49994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5" name="Google Shape;265;p7"/>
          <p:cNvCxnSpPr/>
          <p:nvPr/>
        </p:nvCxnSpPr>
        <p:spPr>
          <a:xfrm flipH="1">
            <a:off x="5963618" y="4390044"/>
            <a:ext cx="25200" cy="1214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6" name="Google Shape;26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7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Scroll Compressor parts </a:t>
            </a:r>
            <a:endParaRPr/>
          </a:p>
        </p:txBody>
      </p:sp>
      <p:pic>
        <p:nvPicPr>
          <p:cNvPr id="272" name="Google Shape;272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03711" y="1038857"/>
            <a:ext cx="10584600" cy="578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 txBox="1">
            <a:spLocks noGrp="1"/>
          </p:cNvSpPr>
          <p:nvPr>
            <p:ph type="title"/>
          </p:nvPr>
        </p:nvSpPr>
        <p:spPr>
          <a:xfrm>
            <a:off x="838200" y="90472"/>
            <a:ext cx="10515600" cy="6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scroll</a:t>
            </a:r>
            <a:endParaRPr/>
          </a:p>
        </p:txBody>
      </p:sp>
      <p:pic>
        <p:nvPicPr>
          <p:cNvPr id="279" name="Google Shape;279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1518" y="1013792"/>
            <a:ext cx="2114603" cy="36178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" name="Google Shape;280;p9"/>
          <p:cNvCxnSpPr/>
          <p:nvPr/>
        </p:nvCxnSpPr>
        <p:spPr>
          <a:xfrm>
            <a:off x="1838739" y="1480930"/>
            <a:ext cx="80507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81" name="Google Shape;28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1030" y="1013792"/>
            <a:ext cx="2020074" cy="361784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9"/>
          <p:cNvSpPr txBox="1"/>
          <p:nvPr/>
        </p:nvSpPr>
        <p:spPr>
          <a:xfrm>
            <a:off x="2643809" y="1296264"/>
            <a:ext cx="12002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Outlet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283" name="Google Shape;283;p9"/>
          <p:cNvCxnSpPr/>
          <p:nvPr/>
        </p:nvCxnSpPr>
        <p:spPr>
          <a:xfrm>
            <a:off x="1928191" y="2246243"/>
            <a:ext cx="715618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4" name="Google Shape;284;p9"/>
          <p:cNvSpPr txBox="1"/>
          <p:nvPr/>
        </p:nvSpPr>
        <p:spPr>
          <a:xfrm>
            <a:off x="2651316" y="2061577"/>
            <a:ext cx="13020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Refrigerant inlet</a:t>
            </a:r>
            <a:endParaRPr/>
          </a:p>
        </p:txBody>
      </p:sp>
      <p:cxnSp>
        <p:nvCxnSpPr>
          <p:cNvPr id="285" name="Google Shape;285;p9"/>
          <p:cNvCxnSpPr/>
          <p:nvPr/>
        </p:nvCxnSpPr>
        <p:spPr>
          <a:xfrm rot="10800000">
            <a:off x="3945835" y="2246243"/>
            <a:ext cx="715617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6" name="Google Shape;286;p9"/>
          <p:cNvCxnSpPr/>
          <p:nvPr/>
        </p:nvCxnSpPr>
        <p:spPr>
          <a:xfrm>
            <a:off x="1570383" y="3200400"/>
            <a:ext cx="100385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7" name="Google Shape;287;p9"/>
          <p:cNvSpPr txBox="1"/>
          <p:nvPr/>
        </p:nvSpPr>
        <p:spPr>
          <a:xfrm>
            <a:off x="2651316" y="3015734"/>
            <a:ext cx="11926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</a:t>
            </a:r>
            <a:endParaRPr/>
          </a:p>
        </p:txBody>
      </p:sp>
      <p:cxnSp>
        <p:nvCxnSpPr>
          <p:cNvPr id="288" name="Google Shape;288;p9"/>
          <p:cNvCxnSpPr/>
          <p:nvPr/>
        </p:nvCxnSpPr>
        <p:spPr>
          <a:xfrm rot="10800000">
            <a:off x="3478696" y="3200400"/>
            <a:ext cx="1610139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9" name="Google Shape;289;p9"/>
          <p:cNvCxnSpPr/>
          <p:nvPr/>
        </p:nvCxnSpPr>
        <p:spPr>
          <a:xfrm rot="10800000">
            <a:off x="3478696" y="1480930"/>
            <a:ext cx="118275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90" name="Google Shape;290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48431" y="1013791"/>
            <a:ext cx="2192387" cy="3617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1339" y="1081437"/>
            <a:ext cx="1740915" cy="16570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9"/>
          <p:cNvCxnSpPr>
            <a:endCxn id="291" idx="1"/>
          </p:cNvCxnSpPr>
          <p:nvPr/>
        </p:nvCxnSpPr>
        <p:spPr>
          <a:xfrm>
            <a:off x="5908939" y="1909973"/>
            <a:ext cx="1232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3" name="Google Shape;293;p9"/>
          <p:cNvCxnSpPr>
            <a:endCxn id="291" idx="3"/>
          </p:cNvCxnSpPr>
          <p:nvPr/>
        </p:nvCxnSpPr>
        <p:spPr>
          <a:xfrm rot="10800000">
            <a:off x="8882254" y="1909973"/>
            <a:ext cx="1365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94" name="Google Shape;294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1338" y="5136974"/>
            <a:ext cx="1740916" cy="1502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1339" y="3368340"/>
            <a:ext cx="1740916" cy="11790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6" name="Google Shape;296;p9"/>
          <p:cNvCxnSpPr>
            <a:stCxn id="291" idx="2"/>
            <a:endCxn id="295" idx="0"/>
          </p:cNvCxnSpPr>
          <p:nvPr/>
        </p:nvCxnSpPr>
        <p:spPr>
          <a:xfrm>
            <a:off x="8011797" y="2738508"/>
            <a:ext cx="0" cy="629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7" name="Google Shape;297;p9"/>
          <p:cNvCxnSpPr>
            <a:stCxn id="295" idx="2"/>
            <a:endCxn id="294" idx="0"/>
          </p:cNvCxnSpPr>
          <p:nvPr/>
        </p:nvCxnSpPr>
        <p:spPr>
          <a:xfrm>
            <a:off x="8011797" y="4547427"/>
            <a:ext cx="0" cy="589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8" name="Google Shape;298;p9"/>
          <p:cNvCxnSpPr/>
          <p:nvPr/>
        </p:nvCxnSpPr>
        <p:spPr>
          <a:xfrm rot="10800000">
            <a:off x="6351104" y="5814391"/>
            <a:ext cx="1162879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9" name="Google Shape;299;p9"/>
          <p:cNvCxnSpPr/>
          <p:nvPr/>
        </p:nvCxnSpPr>
        <p:spPr>
          <a:xfrm rot="10800000">
            <a:off x="6351104" y="6223207"/>
            <a:ext cx="1530626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0" name="Google Shape;300;p9"/>
          <p:cNvSpPr txBox="1"/>
          <p:nvPr/>
        </p:nvSpPr>
        <p:spPr>
          <a:xfrm>
            <a:off x="5050663" y="5629725"/>
            <a:ext cx="13004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scroll</a:t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5088835" y="6038541"/>
            <a:ext cx="111318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Moving scroll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151518" y="4691125"/>
            <a:ext cx="25763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section view of the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Scroll compressor</a:t>
            </a:r>
            <a:endParaRPr/>
          </a:p>
        </p:txBody>
      </p:sp>
      <p:sp>
        <p:nvSpPr>
          <p:cNvPr id="303" name="Google Shape;303;p9"/>
          <p:cNvSpPr txBox="1"/>
          <p:nvPr/>
        </p:nvSpPr>
        <p:spPr>
          <a:xfrm>
            <a:off x="4247389" y="4644958"/>
            <a:ext cx="22777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Refrigerant inlet view</a:t>
            </a:r>
            <a:endParaRPr/>
          </a:p>
        </p:txBody>
      </p:sp>
      <p:sp>
        <p:nvSpPr>
          <p:cNvPr id="304" name="Google Shape;30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305" name="Google Shape;305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2432515" cy="853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f0aea18a2_4_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342" name="Google Shape;342;g36f0aea18a2_4_7"/>
          <p:cNvSpPr txBox="1"/>
          <p:nvPr/>
        </p:nvSpPr>
        <p:spPr>
          <a:xfrm>
            <a:off x="0" y="0"/>
            <a:ext cx="121920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GEOMETRY DESIGN</a:t>
            </a: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Two-Arc Discharge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g36f0aea18a2_4_7"/>
          <p:cNvPicPr preferRelativeResize="0"/>
          <p:nvPr/>
        </p:nvPicPr>
        <p:blipFill rotWithShape="1">
          <a:blip r:embed="rId3">
            <a:alphaModFix/>
          </a:blip>
          <a:srcRect l="15697" t="8401" r="6861" b="3717"/>
          <a:stretch/>
        </p:blipFill>
        <p:spPr>
          <a:xfrm>
            <a:off x="550950" y="1488825"/>
            <a:ext cx="5150026" cy="486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6f0aea18a2_4_7"/>
          <p:cNvPicPr preferRelativeResize="0"/>
          <p:nvPr/>
        </p:nvPicPr>
        <p:blipFill rotWithShape="1">
          <a:blip r:embed="rId4">
            <a:alphaModFix/>
          </a:blip>
          <a:srcRect l="14849" t="1980" r="12004" b="4632"/>
          <a:stretch/>
        </p:blipFill>
        <p:spPr>
          <a:xfrm>
            <a:off x="7723774" y="1158025"/>
            <a:ext cx="3851015" cy="450723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6f0aea18a2_4_7"/>
          <p:cNvSpPr txBox="1"/>
          <p:nvPr/>
        </p:nvSpPr>
        <p:spPr>
          <a:xfrm>
            <a:off x="4921175" y="5883763"/>
            <a:ext cx="18558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Scroll Model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6f0aea18a2_4_7"/>
          <p:cNvSpPr txBox="1"/>
          <p:nvPr/>
        </p:nvSpPr>
        <p:spPr>
          <a:xfrm>
            <a:off x="8162584" y="5770923"/>
            <a:ext cx="35781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00" tIns="95200" rIns="95200" bIns="952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8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 &amp; Orbiting Scroll</a:t>
            </a:r>
            <a:endParaRPr sz="208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g36f0aea18a2_4_7"/>
          <p:cNvCxnSpPr>
            <a:endCxn id="348" idx="1"/>
          </p:cNvCxnSpPr>
          <p:nvPr/>
        </p:nvCxnSpPr>
        <p:spPr>
          <a:xfrm rot="10800000" flipH="1">
            <a:off x="10802706" y="1477289"/>
            <a:ext cx="483300" cy="596700"/>
          </a:xfrm>
          <a:prstGeom prst="straightConnector1">
            <a:avLst/>
          </a:prstGeom>
          <a:noFill/>
          <a:ln w="99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" name="Google Shape;349;g36f0aea18a2_4_7"/>
          <p:cNvCxnSpPr>
            <a:endCxn id="350" idx="3"/>
          </p:cNvCxnSpPr>
          <p:nvPr/>
        </p:nvCxnSpPr>
        <p:spPr>
          <a:xfrm flipH="1">
            <a:off x="8237925" y="4729143"/>
            <a:ext cx="392700" cy="398700"/>
          </a:xfrm>
          <a:prstGeom prst="straightConnector1">
            <a:avLst/>
          </a:prstGeom>
          <a:noFill/>
          <a:ln w="99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8" name="Google Shape;348;g36f0aea18a2_4_7"/>
          <p:cNvSpPr txBox="1"/>
          <p:nvPr/>
        </p:nvSpPr>
        <p:spPr>
          <a:xfrm>
            <a:off x="11286006" y="1220789"/>
            <a:ext cx="906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00" tIns="95200" rIns="95200" bIns="952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8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 </a:t>
            </a:r>
            <a:endParaRPr sz="208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6f0aea18a2_4_7"/>
          <p:cNvSpPr txBox="1"/>
          <p:nvPr/>
        </p:nvSpPr>
        <p:spPr>
          <a:xfrm>
            <a:off x="7138425" y="4871343"/>
            <a:ext cx="10995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00" tIns="95200" rIns="95200" bIns="952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8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Orbiting </a:t>
            </a:r>
            <a:endParaRPr sz="208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6f0aea18a2_7_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412" name="Google Shape;412;g36f0aea18a2_7_12"/>
          <p:cNvSpPr txBox="1"/>
          <p:nvPr/>
        </p:nvSpPr>
        <p:spPr>
          <a:xfrm>
            <a:off x="872825" y="687250"/>
            <a:ext cx="8351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Material used for the Scroll - </a:t>
            </a:r>
            <a:r>
              <a:rPr lang="en-I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Aluminium 4032 Alloy 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6f0aea18a2_7_12"/>
          <p:cNvSpPr txBox="1"/>
          <p:nvPr/>
        </p:nvSpPr>
        <p:spPr>
          <a:xfrm>
            <a:off x="1119325" y="1615175"/>
            <a:ext cx="83514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 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Young's modulus - 73000 N/mm^2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Yield Strength - 280 N/mm^2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Density - 2.69 g/cc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Poisson’s ratio - 0.33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7bf58568ab_0_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44</a:t>
            </a:fld>
            <a:endParaRPr/>
          </a:p>
        </p:txBody>
      </p:sp>
      <p:sp>
        <p:nvSpPr>
          <p:cNvPr id="827" name="Google Shape;827;g37bf58568ab_0_7"/>
          <p:cNvSpPr txBox="1"/>
          <p:nvPr/>
        </p:nvSpPr>
        <p:spPr>
          <a:xfrm>
            <a:off x="0" y="165275"/>
            <a:ext cx="12192000" cy="9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- 2 Design Improvisations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g37bf58568ab_0_7"/>
          <p:cNvSpPr txBox="1"/>
          <p:nvPr/>
        </p:nvSpPr>
        <p:spPr>
          <a:xfrm>
            <a:off x="-125" y="1499200"/>
            <a:ext cx="12192000" cy="44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Modifications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Stepped Shaft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Coupler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Motor Holder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Compressor Holder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Fasteners M4 Nuts and Bolts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b31036aac6_0_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45</a:t>
            </a:fld>
            <a:endParaRPr/>
          </a:p>
        </p:txBody>
      </p:sp>
      <p:sp>
        <p:nvSpPr>
          <p:cNvPr id="835" name="Google Shape;835;g3b31036aac6_0_5"/>
          <p:cNvSpPr txBox="1"/>
          <p:nvPr/>
        </p:nvSpPr>
        <p:spPr>
          <a:xfrm>
            <a:off x="434800" y="563275"/>
            <a:ext cx="7391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design of the working scroll compressor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6" name="Google Shape;836;g3b31036aac6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1275"/>
            <a:ext cx="56578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g3b31036aac6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650" y="1331275"/>
            <a:ext cx="5146255" cy="4872676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g3b31036aac6_0_5"/>
          <p:cNvSpPr txBox="1"/>
          <p:nvPr/>
        </p:nvSpPr>
        <p:spPr>
          <a:xfrm>
            <a:off x="7842175" y="6160450"/>
            <a:ext cx="1387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view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g3b31036aac6_0_5"/>
          <p:cNvSpPr txBox="1"/>
          <p:nvPr/>
        </p:nvSpPr>
        <p:spPr>
          <a:xfrm>
            <a:off x="2249775" y="6160450"/>
            <a:ext cx="1463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Isometric view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b344d22c14_0_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46</a:t>
            </a:fld>
            <a:endParaRPr/>
          </a:p>
        </p:txBody>
      </p:sp>
      <p:sp>
        <p:nvSpPr>
          <p:cNvPr id="846" name="Google Shape;846;g3b344d22c14_0_5"/>
          <p:cNvSpPr txBox="1"/>
          <p:nvPr/>
        </p:nvSpPr>
        <p:spPr>
          <a:xfrm>
            <a:off x="434800" y="563275"/>
            <a:ext cx="7391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design of the working scroll compressor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7" name="Google Shape;847;g3b344d22c14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175" y="1064475"/>
            <a:ext cx="8156011" cy="537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g3b344d22c14_0_5"/>
          <p:cNvSpPr txBox="1"/>
          <p:nvPr/>
        </p:nvSpPr>
        <p:spPr>
          <a:xfrm>
            <a:off x="4506125" y="6242400"/>
            <a:ext cx="237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Exploded view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b31036aac6_7_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47</a:t>
            </a:fld>
            <a:endParaRPr/>
          </a:p>
        </p:txBody>
      </p:sp>
      <p:pic>
        <p:nvPicPr>
          <p:cNvPr id="855" name="Google Shape;855;g3b31036aac6_7_12" title="Assem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850" y="403225"/>
            <a:ext cx="10758309" cy="605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b31036aac6_0_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48</a:t>
            </a:fld>
            <a:endParaRPr/>
          </a:p>
        </p:txBody>
      </p:sp>
      <p:sp>
        <p:nvSpPr>
          <p:cNvPr id="862" name="Google Shape;862;g3b31036aac6_0_15"/>
          <p:cNvSpPr txBox="1"/>
          <p:nvPr/>
        </p:nvSpPr>
        <p:spPr>
          <a:xfrm>
            <a:off x="434800" y="563275"/>
            <a:ext cx="7391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design of the working scroll compressor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g3b31036aac6_0_15"/>
          <p:cNvSpPr txBox="1"/>
          <p:nvPr/>
        </p:nvSpPr>
        <p:spPr>
          <a:xfrm>
            <a:off x="582200" y="1618300"/>
            <a:ext cx="107715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initial model of the scroll compressor was held by a clamp which was bolted down to a board.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oldham's coupling was used at the end of the shaft which connects to the motor to tackle misalignment.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design was not able to run long as the parts we misaligned heavily and the clamp was not able to hold the compressor making it difficult to run.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b31036aac6_3_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49</a:t>
            </a:fld>
            <a:endParaRPr/>
          </a:p>
        </p:txBody>
      </p:sp>
      <p:pic>
        <p:nvPicPr>
          <p:cNvPr id="870" name="Google Shape;870;g3b31036aac6_3_12" title="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1922651" cy="62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b31036aac6_0_1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50</a:t>
            </a:fld>
            <a:endParaRPr/>
          </a:p>
        </p:txBody>
      </p:sp>
      <p:sp>
        <p:nvSpPr>
          <p:cNvPr id="877" name="Google Shape;877;g3b31036aac6_0_155"/>
          <p:cNvSpPr txBox="1"/>
          <p:nvPr/>
        </p:nvSpPr>
        <p:spPr>
          <a:xfrm>
            <a:off x="434800" y="563275"/>
            <a:ext cx="7391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design of the working scroll compressor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g3b31036aac6_0_155"/>
          <p:cNvSpPr txBox="1"/>
          <p:nvPr/>
        </p:nvSpPr>
        <p:spPr>
          <a:xfrm>
            <a:off x="592900" y="1403225"/>
            <a:ext cx="107610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running the first model we have observed that the oldhams coupling between the compressor shaft and the motor motor shaft was unstable.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made it impossible to run at higher RPM so we have opted for the jaw coupling which was more stable compare to the previous one.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b31036aac6_3_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51</a:t>
            </a:fld>
            <a:endParaRPr/>
          </a:p>
        </p:txBody>
      </p:sp>
      <p:pic>
        <p:nvPicPr>
          <p:cNvPr id="885" name="Google Shape;885;g3b31036aac6_3_18" title="3.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1956074" cy="62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b31036aac6_0_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52</a:t>
            </a:fld>
            <a:endParaRPr/>
          </a:p>
        </p:txBody>
      </p:sp>
      <p:sp>
        <p:nvSpPr>
          <p:cNvPr id="892" name="Google Shape;892;g3b31036aac6_0_22"/>
          <p:cNvSpPr txBox="1"/>
          <p:nvPr/>
        </p:nvSpPr>
        <p:spPr>
          <a:xfrm>
            <a:off x="444050" y="483525"/>
            <a:ext cx="715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2nd Iteration of the Scroll Compressor Design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3" name="Google Shape;893;g3b31036aac6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0775" y="1251525"/>
            <a:ext cx="37338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g3b31036aac6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51525"/>
            <a:ext cx="6940065" cy="545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b344d22c14_0_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53</a:t>
            </a:fld>
            <a:endParaRPr/>
          </a:p>
        </p:txBody>
      </p:sp>
      <p:sp>
        <p:nvSpPr>
          <p:cNvPr id="901" name="Google Shape;901;g3b344d22c14_0_17"/>
          <p:cNvSpPr txBox="1"/>
          <p:nvPr/>
        </p:nvSpPr>
        <p:spPr>
          <a:xfrm>
            <a:off x="444050" y="483525"/>
            <a:ext cx="715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2nd Iteration of the Scroll Compressor Design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2" name="Google Shape;902;g3b344d22c14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100" y="1212000"/>
            <a:ext cx="8305801" cy="5364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b31036aac6_7_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54</a:t>
            </a:fld>
            <a:endParaRPr/>
          </a:p>
        </p:txBody>
      </p:sp>
      <p:pic>
        <p:nvPicPr>
          <p:cNvPr id="909" name="Google Shape;909;g3b31036aac6_7_6" title="Assem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9400" y="129300"/>
            <a:ext cx="8799200" cy="659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b31036aac6_0_1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55</a:t>
            </a:fld>
            <a:endParaRPr/>
          </a:p>
        </p:txBody>
      </p:sp>
      <p:sp>
        <p:nvSpPr>
          <p:cNvPr id="916" name="Google Shape;916;g3b31036aac6_0_120"/>
          <p:cNvSpPr txBox="1"/>
          <p:nvPr/>
        </p:nvSpPr>
        <p:spPr>
          <a:xfrm>
            <a:off x="622550" y="1472400"/>
            <a:ext cx="107313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2nd iteration of the working compressor the whole setup was changed to give a more stable platform for the scroll.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design we made changes such that the the scroll body is directly bolted to the plank rather than a clamp which was unstable.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g3b31036aac6_0_120"/>
          <p:cNvSpPr txBox="1"/>
          <p:nvPr/>
        </p:nvSpPr>
        <p:spPr>
          <a:xfrm>
            <a:off x="444050" y="483525"/>
            <a:ext cx="715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2nd Iteration of the Scroll Compressor Design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b31036aac6_0_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56</a:t>
            </a:fld>
            <a:endParaRPr/>
          </a:p>
        </p:txBody>
      </p:sp>
      <p:sp>
        <p:nvSpPr>
          <p:cNvPr id="924" name="Google Shape;924;g3b31036aac6_0_35"/>
          <p:cNvSpPr txBox="1"/>
          <p:nvPr/>
        </p:nvSpPr>
        <p:spPr>
          <a:xfrm>
            <a:off x="444050" y="483525"/>
            <a:ext cx="715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3rd Iteration of the Scroll Compressor Design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5" name="Google Shape;925;g3b31036aac6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075" y="1267375"/>
            <a:ext cx="7287840" cy="545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b344d22c14_0_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57</a:t>
            </a:fld>
            <a:endParaRPr/>
          </a:p>
        </p:txBody>
      </p:sp>
      <p:sp>
        <p:nvSpPr>
          <p:cNvPr id="932" name="Google Shape;932;g3b344d22c14_0_26"/>
          <p:cNvSpPr txBox="1"/>
          <p:nvPr/>
        </p:nvSpPr>
        <p:spPr>
          <a:xfrm>
            <a:off x="444050" y="483525"/>
            <a:ext cx="715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3rd Iteration of the Scroll Compressor Design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3" name="Google Shape;933;g3b344d22c14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913" y="1202125"/>
            <a:ext cx="8012182" cy="545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b31036aac6_7_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58</a:t>
            </a:fld>
            <a:endParaRPr/>
          </a:p>
        </p:txBody>
      </p:sp>
      <p:pic>
        <p:nvPicPr>
          <p:cNvPr id="940" name="Google Shape;940;g3b31036aac6_7_20" title="Assem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850" y="403225"/>
            <a:ext cx="10758309" cy="605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b31036aac6_0_1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59</a:t>
            </a:fld>
            <a:endParaRPr/>
          </a:p>
        </p:txBody>
      </p:sp>
      <p:sp>
        <p:nvSpPr>
          <p:cNvPr id="947" name="Google Shape;947;g3b31036aac6_0_129"/>
          <p:cNvSpPr txBox="1"/>
          <p:nvPr/>
        </p:nvSpPr>
        <p:spPr>
          <a:xfrm>
            <a:off x="681850" y="1353825"/>
            <a:ext cx="107514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third iteration ball bearings were added in place of the sleeves.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sleeve in the previous models were melting due to heat generated from the friction causing the components to melt with them.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the sleeve were not able to align properly due to the tolerance causing server shaft misalignment.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bearing provided stability at the higher RPM which the sleeve lacked.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g3b31036aac6_0_129"/>
          <p:cNvSpPr txBox="1"/>
          <p:nvPr/>
        </p:nvSpPr>
        <p:spPr>
          <a:xfrm>
            <a:off x="444050" y="483525"/>
            <a:ext cx="715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3rd Iteration of the Scroll Compressor Design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b31036aac6_3_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60</a:t>
            </a:fld>
            <a:endParaRPr/>
          </a:p>
        </p:txBody>
      </p:sp>
      <p:pic>
        <p:nvPicPr>
          <p:cNvPr id="955" name="Google Shape;955;g3b31036aac6_3_30" title="PXL_20250920_055732925.MP.jpg"/>
          <p:cNvPicPr preferRelativeResize="0"/>
          <p:nvPr/>
        </p:nvPicPr>
        <p:blipFill rotWithShape="1">
          <a:blip r:embed="rId3">
            <a:alphaModFix/>
          </a:blip>
          <a:srcRect t="37393" r="4398" b="30314"/>
          <a:stretch/>
        </p:blipFill>
        <p:spPr>
          <a:xfrm>
            <a:off x="492675" y="1024975"/>
            <a:ext cx="4793400" cy="287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g3b31036aac6_3_30" title="PXL_20250920_055719640.MP.jpg"/>
          <p:cNvPicPr preferRelativeResize="0"/>
          <p:nvPr/>
        </p:nvPicPr>
        <p:blipFill rotWithShape="1">
          <a:blip r:embed="rId4">
            <a:alphaModFix/>
          </a:blip>
          <a:srcRect t="32760" r="16171" b="37369"/>
          <a:stretch/>
        </p:blipFill>
        <p:spPr>
          <a:xfrm>
            <a:off x="6368767" y="1160774"/>
            <a:ext cx="4329233" cy="274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g3b31036aac6_3_30" title="PXL_20250920_055714871.MP.jpg"/>
          <p:cNvPicPr preferRelativeResize="0"/>
          <p:nvPr/>
        </p:nvPicPr>
        <p:blipFill rotWithShape="1">
          <a:blip r:embed="rId5">
            <a:alphaModFix/>
          </a:blip>
          <a:srcRect l="19317" t="47061" r="19671" b="26206"/>
          <a:stretch/>
        </p:blipFill>
        <p:spPr>
          <a:xfrm>
            <a:off x="5286063" y="4443775"/>
            <a:ext cx="2150199" cy="16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b31036aac6_3_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61</a:t>
            </a:fld>
            <a:endParaRPr/>
          </a:p>
        </p:txBody>
      </p:sp>
      <p:pic>
        <p:nvPicPr>
          <p:cNvPr id="964" name="Google Shape;964;g3b31036aac6_3_24" title="Video from CB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6750" y="209925"/>
            <a:ext cx="8584200" cy="6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b31036aac6_0_1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62</a:t>
            </a:fld>
            <a:endParaRPr/>
          </a:p>
        </p:txBody>
      </p:sp>
      <p:sp>
        <p:nvSpPr>
          <p:cNvPr id="971" name="Google Shape;971;g3b31036aac6_0_138"/>
          <p:cNvSpPr txBox="1"/>
          <p:nvPr/>
        </p:nvSpPr>
        <p:spPr>
          <a:xfrm>
            <a:off x="444050" y="483525"/>
            <a:ext cx="715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4th Iteration of the Scroll Compressor Design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2" name="Google Shape;972;g3b31036aac6_0_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50" y="1358625"/>
            <a:ext cx="6043000" cy="4997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g3b31036aac6_0_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2450" y="2211513"/>
            <a:ext cx="5577376" cy="3032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b344d22c14_0_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63</a:t>
            </a:fld>
            <a:endParaRPr/>
          </a:p>
        </p:txBody>
      </p:sp>
      <p:sp>
        <p:nvSpPr>
          <p:cNvPr id="980" name="Google Shape;980;g3b344d22c14_0_34"/>
          <p:cNvSpPr txBox="1"/>
          <p:nvPr/>
        </p:nvSpPr>
        <p:spPr>
          <a:xfrm>
            <a:off x="444050" y="483525"/>
            <a:ext cx="715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4th Iteration of the Scroll Compressor Design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1" name="Google Shape;981;g3b344d22c14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5125" y="1099125"/>
            <a:ext cx="7101740" cy="545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b31036aac6_7_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64</a:t>
            </a:fld>
            <a:endParaRPr/>
          </a:p>
        </p:txBody>
      </p:sp>
      <p:pic>
        <p:nvPicPr>
          <p:cNvPr id="988" name="Google Shape;988;g3b31036aac6_7_26" title="Assem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850" y="403225"/>
            <a:ext cx="10758309" cy="605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b31036aac6_0_1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65</a:t>
            </a:fld>
            <a:endParaRPr/>
          </a:p>
        </p:txBody>
      </p:sp>
      <p:sp>
        <p:nvSpPr>
          <p:cNvPr id="995" name="Google Shape;995;g3b31036aac6_0_146"/>
          <p:cNvSpPr txBox="1"/>
          <p:nvPr/>
        </p:nvSpPr>
        <p:spPr>
          <a:xfrm>
            <a:off x="444050" y="483525"/>
            <a:ext cx="715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4th Iteration of the Scroll Compressor Design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g3b31036aac6_0_146"/>
          <p:cNvSpPr txBox="1"/>
          <p:nvPr/>
        </p:nvSpPr>
        <p:spPr>
          <a:xfrm>
            <a:off x="612675" y="1521800"/>
            <a:ext cx="107412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4th iteration a casing was designed for the motor to prevent misalignment as in the previous iterations it was being held with a clamp which caused error in placement.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a bar has been added at the bottom to prevent lateral misalignment which was a major issue in the previous cases.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b344d22c14_0_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66</a:t>
            </a:fld>
            <a:endParaRPr/>
          </a:p>
        </p:txBody>
      </p:sp>
      <p:sp>
        <p:nvSpPr>
          <p:cNvPr id="1003" name="Google Shape;1003;g3b344d22c14_0_61"/>
          <p:cNvSpPr txBox="1"/>
          <p:nvPr/>
        </p:nvSpPr>
        <p:spPr>
          <a:xfrm>
            <a:off x="434800" y="681850"/>
            <a:ext cx="6818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Semi Hermetic scroll compressor model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b344d22c14_0_61"/>
          <p:cNvSpPr txBox="1"/>
          <p:nvPr/>
        </p:nvSpPr>
        <p:spPr>
          <a:xfrm>
            <a:off x="691725" y="1620625"/>
            <a:ext cx="106620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have made a semi hermetic model after the successfully running the previous model without any major issues.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model unlike the previous ones the motor is in the casing rather than outside.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we have included a discharge value and a discharge chamber for further modifications.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b344d22c14_0_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67</a:t>
            </a:fld>
            <a:endParaRPr/>
          </a:p>
        </p:txBody>
      </p:sp>
      <p:sp>
        <p:nvSpPr>
          <p:cNvPr id="1011" name="Google Shape;1011;g3b344d22c14_0_43"/>
          <p:cNvSpPr txBox="1"/>
          <p:nvPr/>
        </p:nvSpPr>
        <p:spPr>
          <a:xfrm>
            <a:off x="424925" y="395275"/>
            <a:ext cx="6818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Semi Hermetic scroll compressor model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2" name="Google Shape;1012;g3b344d22c14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575" y="1386400"/>
            <a:ext cx="4634000" cy="5335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g3b344d22c14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0700" y="1517350"/>
            <a:ext cx="4634000" cy="5073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b31036aac6_7_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68</a:t>
            </a:fld>
            <a:endParaRPr/>
          </a:p>
        </p:txBody>
      </p:sp>
      <p:pic>
        <p:nvPicPr>
          <p:cNvPr id="1020" name="Google Shape;1020;g3b31036aac6_7_38" title="assembley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6900" y="257175"/>
            <a:ext cx="8458200" cy="63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b31036aac6_7_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69</a:t>
            </a:fld>
            <a:endParaRPr/>
          </a:p>
        </p:txBody>
      </p:sp>
      <p:pic>
        <p:nvPicPr>
          <p:cNvPr id="1027" name="Google Shape;1027;g3b31036aac6_7_32" title="Assem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0758309" cy="605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3806</Words>
  <Application>Microsoft Office PowerPoint</Application>
  <PresentationFormat>Widescreen</PresentationFormat>
  <Paragraphs>708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73</vt:i4>
      </vt:variant>
    </vt:vector>
  </HeadingPairs>
  <TitlesOfParts>
    <vt:vector size="80" baseType="lpstr">
      <vt:lpstr>Arial</vt:lpstr>
      <vt:lpstr>Times New Roman</vt:lpstr>
      <vt:lpstr>Calibri</vt:lpstr>
      <vt:lpstr>Play</vt:lpstr>
      <vt:lpstr>Office Theme</vt:lpstr>
      <vt:lpstr>Office Theme</vt:lpstr>
      <vt:lpstr>Office Theme</vt:lpstr>
      <vt:lpstr>Types of compressors</vt:lpstr>
      <vt:lpstr>Scroll Compressor parts </vt:lpstr>
      <vt:lpstr>Working of scroll</vt:lpstr>
      <vt:lpstr>PowerPoint Presentation</vt:lpstr>
      <vt:lpstr>PowerPoint Presentation</vt:lpstr>
      <vt:lpstr>PowerPoint Presentation</vt:lpstr>
      <vt:lpstr>PowerPoint Presentation</vt:lpstr>
      <vt:lpstr>Code – Scroll Compressor Volume Optimization</vt:lpstr>
      <vt:lpstr>PowerPoint Presentation</vt:lpstr>
      <vt:lpstr>Code – Points for the Discharge Geometry </vt:lpstr>
      <vt:lpstr>PowerPoint Presentation</vt:lpstr>
      <vt:lpstr>Code - Scroll Compressor Structural Safety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Venkat Mohan Doki</dc:creator>
  <cp:lastModifiedBy>aditya venkata</cp:lastModifiedBy>
  <cp:revision>1</cp:revision>
  <dcterms:created xsi:type="dcterms:W3CDTF">2022-06-27T08:13:17Z</dcterms:created>
  <dcterms:modified xsi:type="dcterms:W3CDTF">2026-10-25T05:14:00Z</dcterms:modified>
</cp:coreProperties>
</file>